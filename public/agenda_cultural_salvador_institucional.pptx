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7B61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F3A8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7B61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66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6217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CULTURAL SALVADOR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de Salvador,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organizada, geolocalizada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serviço da cidade.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digital de programação cultural, mapeamento do setor e inteligência de dados sobre a cena cultural de Salvador.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6263640"/>
            <a:ext cx="108813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agendaculturalsalvador.com.br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52560" y="6355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que organiza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vida cultural de Salvador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Shows, exposições, festas, espetáculos, experiências gastronômicas e roteiros curados — reunidos em um só lugar, com curadoria editorial enraizada na cultura baiana e afro-diaspórica, valorizando tanto grandes eventos quanto produções independentes.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82296" cy="566928"/>
          </a:xfrm>
          <a:prstGeom prst="roundRect">
            <a:avLst>
              <a:gd name="adj" fmla="val 50000"/>
            </a:avLst>
          </a:prstGeom>
          <a:solidFill>
            <a:srgbClr val="FF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13308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Descoberta em tempo real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4074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personalizada por perfil, geolocalização e vibe do momento.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9103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FF3A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88289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Roteiros curados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51572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Experiências temáticas assinadas por curadores locais.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5660136"/>
            <a:ext cx="82296" cy="566928"/>
          </a:xfrm>
          <a:prstGeom prst="roundRect">
            <a:avLst>
              <a:gd name="adj" fmla="val 50000"/>
            </a:avLst>
          </a:prstGeom>
          <a:solidFill>
            <a:srgbClr val="FF3A8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6327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cultural interativo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9070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 geográfica da programação da cidade.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777240"/>
            <a:ext cx="4892040" cy="5349240"/>
          </a:xfrm>
          <a:prstGeom prst="roundRect">
            <a:avLst>
              <a:gd name="adj" fmla="val 2243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15" name="Image 0" descr="app_screens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005840"/>
            <a:ext cx="4434840" cy="33284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44348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Explore, Mapa e Detalhe do evento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Inovação tecnológica aplicada à cultura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incorpora automação e inteligência de dados para manter a agenda viva e gerar conhecimento sobre o setor.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68880"/>
            <a:ext cx="566928" cy="566928"/>
          </a:xfrm>
          <a:prstGeom prst="ellipse">
            <a:avLst/>
          </a:prstGeom>
          <a:solidFill>
            <a:srgbClr val="7B61FF"/>
          </a:solidFill>
          <a:ln/>
        </p:spPr>
      </p:sp>
      <p:pic>
        <p:nvPicPr>
          <p:cNvPr id="7" name="Image 0" descr="icon_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61518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200400"/>
            <a:ext cx="2093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Agregação automatizada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3931920"/>
            <a:ext cx="20939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contínua de eventos a partir de múltiplas fontes (Sympla, Eventbrite, redes, sites de casas culturais).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49040" y="2468880"/>
            <a:ext cx="566928" cy="566928"/>
          </a:xfrm>
          <a:prstGeom prst="ellipse">
            <a:avLst/>
          </a:prstGeom>
          <a:solidFill>
            <a:srgbClr val="7B61FF"/>
          </a:solidFill>
          <a:ln/>
        </p:spPr>
      </p:sp>
      <p:pic>
        <p:nvPicPr>
          <p:cNvPr id="12" name="Image 1" descr="icon_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261518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3200400"/>
            <a:ext cx="2093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Geolocalização em tempo real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30752" y="3931920"/>
            <a:ext cx="20939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interativo com toda a programação ativa da cidade, por bairro e distrito.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0" y="2468880"/>
            <a:ext cx="566928" cy="566928"/>
          </a:xfrm>
          <a:prstGeom prst="ellipse">
            <a:avLst/>
          </a:prstGeom>
          <a:solidFill>
            <a:srgbClr val="7B61FF"/>
          </a:solidFill>
          <a:ln/>
        </p:spPr>
      </p:sp>
      <p:pic>
        <p:nvPicPr>
          <p:cNvPr id="17" name="Image 2" descr="icon_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6151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200400"/>
            <a:ext cx="2093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Personalização por perfil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65392" y="3931920"/>
            <a:ext cx="20939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e roteiros adaptados ao interesse e à 'vibe' de cada usuário.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0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418320" y="2468880"/>
            <a:ext cx="566928" cy="566928"/>
          </a:xfrm>
          <a:prstGeom prst="ellipse">
            <a:avLst/>
          </a:prstGeom>
          <a:solidFill>
            <a:srgbClr val="7B61FF"/>
          </a:solidFill>
          <a:ln/>
        </p:spPr>
      </p:sp>
      <p:pic>
        <p:nvPicPr>
          <p:cNvPr id="22" name="Image 3" descr="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6151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00032" y="3200400"/>
            <a:ext cx="2093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Roteiros curados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00032" y="3931920"/>
            <a:ext cx="20939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Trajetos temáticos que conectam eventos, gastronomia e cultura em uma experiência guiada.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0D0B14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00400"/>
            <a:ext cx="6400800" cy="6400800"/>
          </a:xfrm>
          <a:prstGeom prst="ellipse">
            <a:avLst/>
          </a:prstGeom>
          <a:solidFill>
            <a:srgbClr val="7B61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 ESTRATÉGICO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do setor cultural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infraestrutura de dados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agregar e georreferenciar continuamente a programação da cidade, a plataforma constrói uma base de dados viva sobre a atividade cultural de Salvador — capaz de subsidiar diagnósticos, estratégias de expansão e decisões de negócio com dados concretos.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30752"/>
            <a:ext cx="146304" cy="146304"/>
          </a:xfrm>
          <a:prstGeom prst="ellipse">
            <a:avLst/>
          </a:prstGeom>
          <a:solidFill>
            <a:srgbClr val="FF3A8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3016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e frequência de eventos por casa e espaço cultural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51376"/>
            <a:ext cx="146304" cy="146304"/>
          </a:xfrm>
          <a:prstGeom prst="ellipse">
            <a:avLst/>
          </a:prstGeom>
          <a:solidFill>
            <a:srgbClr val="FF3A8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5079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da oferta cultural por distrito e bairro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46304" cy="146304"/>
          </a:xfrm>
          <a:prstGeom prst="ellipse">
            <a:avLst/>
          </a:prstGeom>
          <a:solidFill>
            <a:srgbClr val="FF3A8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7141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Sazonalidade da programação ao longo do ano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992624"/>
            <a:ext cx="146304" cy="146304"/>
          </a:xfrm>
          <a:prstGeom prst="ellipse">
            <a:avLst/>
          </a:prstGeom>
          <a:solidFill>
            <a:srgbClr val="FF3A8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920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Segmentos artísticos mais ativos por território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413248"/>
            <a:ext cx="146304" cy="146304"/>
          </a:xfrm>
          <a:prstGeom prst="ellipse">
            <a:avLst/>
          </a:prstGeom>
          <a:solidFill>
            <a:srgbClr val="FF3A8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31266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Territórios com carência de equipamentos e eventos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777240"/>
            <a:ext cx="4526280" cy="5349240"/>
          </a:xfrm>
          <a:prstGeom prst="roundRect">
            <a:avLst>
              <a:gd name="adj" fmla="val 242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— OFERTA CULTURAL POR BAIRRO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60920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Pelourinho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737360"/>
            <a:ext cx="3291840" cy="128016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60920" y="1737360"/>
            <a:ext cx="3028493" cy="128016"/>
          </a:xfrm>
          <a:prstGeom prst="roundRect">
            <a:avLst>
              <a:gd name="adj" fmla="val 50000"/>
            </a:avLst>
          </a:prstGeom>
          <a:solidFill>
            <a:srgbClr val="FF3A8C"/>
          </a:solidFill>
          <a:ln/>
        </p:spPr>
      </p:sp>
      <p:sp>
        <p:nvSpPr>
          <p:cNvPr id="22" name="Text 20"/>
          <p:cNvSpPr/>
          <p:nvPr/>
        </p:nvSpPr>
        <p:spPr>
          <a:xfrm>
            <a:off x="10725912" y="1463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1993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2267712"/>
            <a:ext cx="3291840" cy="128016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0920" y="2267712"/>
            <a:ext cx="2567635" cy="128016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725912" y="1993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25237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Vermelho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2798064"/>
            <a:ext cx="3291840" cy="128016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60920" y="2798064"/>
            <a:ext cx="2337206" cy="128016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725912" y="25237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3054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Antônio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3328416"/>
            <a:ext cx="3291840" cy="128016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33" name="Shape 31"/>
          <p:cNvSpPr/>
          <p:nvPr/>
        </p:nvSpPr>
        <p:spPr>
          <a:xfrm>
            <a:off x="7360920" y="3328416"/>
            <a:ext cx="1909267" cy="128016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725912" y="305409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60920" y="3584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Itapuã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60920" y="3858768"/>
            <a:ext cx="3291840" cy="128016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37" name="Shape 35"/>
          <p:cNvSpPr/>
          <p:nvPr/>
        </p:nvSpPr>
        <p:spPr>
          <a:xfrm>
            <a:off x="7360920" y="3858768"/>
            <a:ext cx="1119226" cy="128016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/>
        </p:spPr>
      </p:sp>
      <p:sp>
        <p:nvSpPr>
          <p:cNvPr id="38" name="Text 36"/>
          <p:cNvSpPr/>
          <p:nvPr/>
        </p:nvSpPr>
        <p:spPr>
          <a:xfrm>
            <a:off x="10725912" y="35844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6092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Subúrbio Ferroviário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60920" y="4389120"/>
            <a:ext cx="3291840" cy="128016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41" name="Shape 39"/>
          <p:cNvSpPr/>
          <p:nvPr/>
        </p:nvSpPr>
        <p:spPr>
          <a:xfrm>
            <a:off x="7360920" y="4389120"/>
            <a:ext cx="625450" cy="128016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/>
        </p:spPr>
      </p:sp>
      <p:sp>
        <p:nvSpPr>
          <p:cNvPr id="42" name="Text 40"/>
          <p:cNvSpPr/>
          <p:nvPr/>
        </p:nvSpPr>
        <p:spPr>
          <a:xfrm>
            <a:off x="10725912" y="4114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60920" y="47183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Ilustrativo — dados reais gerados a partir da agregação contínua da plataforma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60920" y="5175504"/>
            <a:ext cx="39319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52852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duplo: diagnóstico setorial e planejamento estratégico, tanto para decisões de investimento e expansão comercial quanto para políticas públicas.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criativa e impacto para a cidade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visibilidade para quem produz cultura, mais alcance para quem consome — e um canal qualificado de geração de renda no setor.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D1D1D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41448"/>
            <a:ext cx="548640" cy="548640"/>
          </a:xfrm>
          <a:prstGeom prst="ellipse">
            <a:avLst/>
          </a:prstGeom>
          <a:solidFill>
            <a:srgbClr val="FF3A8C"/>
          </a:solidFill>
          <a:ln/>
        </p:spPr>
      </p:sp>
      <p:pic>
        <p:nvPicPr>
          <p:cNvPr id="7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877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15468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3520440"/>
            <a:ext cx="20939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Artistas, produtores, coletivos e espaços culturais ganham vitrine qualificada e alcance direto ao público.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1488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D1D1D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49040" y="2441448"/>
            <a:ext cx="548640" cy="548640"/>
          </a:xfrm>
          <a:prstGeom prst="ellipse">
            <a:avLst/>
          </a:prstGeom>
          <a:solidFill>
            <a:srgbClr val="FF3A8C"/>
          </a:solidFill>
          <a:ln/>
        </p:spPr>
      </p:sp>
      <p:pic>
        <p:nvPicPr>
          <p:cNvPr id="12" name="Image 1" descr="icon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25877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315468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renda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30752" y="3520440"/>
            <a:ext cx="20939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Descoberta facilitada converte em público pagante para eventos, roteiros e casas culturais.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1488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D1D1D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0" y="2441448"/>
            <a:ext cx="548640" cy="548640"/>
          </a:xfrm>
          <a:prstGeom prst="ellipse">
            <a:avLst/>
          </a:prstGeom>
          <a:solidFill>
            <a:srgbClr val="FF3A8C"/>
          </a:solidFill>
          <a:ln/>
        </p:spPr>
      </p:sp>
      <p:pic>
        <p:nvPicPr>
          <p:cNvPr id="17" name="Image 2" descr="icon_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58775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15468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Turismo cultural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65392" y="3520440"/>
            <a:ext cx="20939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 encontram com facilidade a programação viva da cidade — para além dos roteiros óbvios.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0" y="21488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D1D1D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418320" y="2441448"/>
            <a:ext cx="548640" cy="548640"/>
          </a:xfrm>
          <a:prstGeom prst="ellipse">
            <a:avLst/>
          </a:prstGeom>
          <a:solidFill>
            <a:srgbClr val="FF3A8C"/>
          </a:solidFill>
          <a:ln/>
        </p:spPr>
      </p:sp>
      <p:pic>
        <p:nvPicPr>
          <p:cNvPr id="22" name="Image 3" descr="icon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58775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00032" y="315468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Profissionalização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00032" y="3520440"/>
            <a:ext cx="20939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divulgação qualificado para agentes culturais independentes e produções de menor porte.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5101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14400" y="55778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ecossistema conectando público, produtores culturais e mercado em torno da mesma base de dados.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EXECUÇÃO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implementação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Faseamento proposto para lançamento do produto e amadurecimento da camada de inteligência de dados.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08810" y="2606040"/>
            <a:ext cx="8343900" cy="0"/>
          </a:xfrm>
          <a:prstGeom prst="line">
            <a:avLst/>
          </a:prstGeom>
          <a:noFill/>
          <a:ln w="19050">
            <a:solidFill>
              <a:srgbClr val="2A2A2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52778" y="2350008"/>
            <a:ext cx="512064" cy="512064"/>
          </a:xfrm>
          <a:prstGeom prst="ellipse">
            <a:avLst/>
          </a:prstGeom>
          <a:solidFill>
            <a:srgbClr val="0A0A0A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52778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2537460" cy="2926080"/>
          </a:xfrm>
          <a:prstGeom prst="roundRect">
            <a:avLst>
              <a:gd name="adj" fmla="val 3604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337560"/>
            <a:ext cx="420624" cy="420624"/>
          </a:xfrm>
          <a:prstGeom prst="ellipse">
            <a:avLst/>
          </a:prstGeom>
          <a:solidFill>
            <a:srgbClr val="FF3A8C"/>
          </a:solidFill>
          <a:ln/>
        </p:spPr>
      </p:sp>
      <p:pic>
        <p:nvPicPr>
          <p:cNvPr id="10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44728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3858768"/>
            <a:ext cx="2135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1248" y="4114800"/>
            <a:ext cx="21351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41248" y="4617720"/>
            <a:ext cx="21351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do produto, scraping e agregação de dados, base cultural de Salvador estruturada.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34383" y="2350008"/>
            <a:ext cx="512064" cy="512064"/>
          </a:xfrm>
          <a:prstGeom prst="ellipse">
            <a:avLst/>
          </a:prstGeom>
          <a:solidFill>
            <a:srgbClr val="0A0A0A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34383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421685" y="3108960"/>
            <a:ext cx="2537460" cy="2926080"/>
          </a:xfrm>
          <a:prstGeom prst="roundRect">
            <a:avLst>
              <a:gd name="adj" fmla="val 3604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22853" y="3337560"/>
            <a:ext cx="420624" cy="420624"/>
          </a:xfrm>
          <a:prstGeom prst="ellipse">
            <a:avLst/>
          </a:prstGeom>
          <a:solidFill>
            <a:srgbClr val="FF3A8C"/>
          </a:solidFill>
          <a:ln/>
        </p:spPr>
      </p:sp>
      <p:pic>
        <p:nvPicPr>
          <p:cNvPr id="18" name="Image 1" descr="icon_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3447288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22853" y="3858768"/>
            <a:ext cx="2135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622853" y="4114800"/>
            <a:ext cx="21351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público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3622853" y="4617720"/>
            <a:ext cx="21351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Disponibilização do app (iOS/Android/Web), curadoria editorial ativa, primeiros roteiros culturais.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215988" y="2350008"/>
            <a:ext cx="512064" cy="512064"/>
          </a:xfrm>
          <a:prstGeom prst="ellipse">
            <a:avLst/>
          </a:prstGeom>
          <a:solidFill>
            <a:srgbClr val="0A0A0A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15988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203290" y="3108960"/>
            <a:ext cx="2537460" cy="2926080"/>
          </a:xfrm>
          <a:prstGeom prst="roundRect">
            <a:avLst>
              <a:gd name="adj" fmla="val 3604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4458" y="3337560"/>
            <a:ext cx="420624" cy="420624"/>
          </a:xfrm>
          <a:prstGeom prst="ellipse">
            <a:avLst/>
          </a:prstGeom>
          <a:solidFill>
            <a:srgbClr val="FF3A8C"/>
          </a:solidFill>
          <a:ln/>
        </p:spPr>
      </p:sp>
      <p:pic>
        <p:nvPicPr>
          <p:cNvPr id="26" name="Image 2" descr="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186" y="3447288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4458" y="3858768"/>
            <a:ext cx="2135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404458" y="4114800"/>
            <a:ext cx="21351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dados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404458" y="4617720"/>
            <a:ext cx="21351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dados e indicadores do setor cultural: mapeamento por casa, distrito e bairro, para uso público e comercial.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997592" y="2350008"/>
            <a:ext cx="512064" cy="512064"/>
          </a:xfrm>
          <a:prstGeom prst="ellipse">
            <a:avLst/>
          </a:prstGeom>
          <a:solidFill>
            <a:srgbClr val="0A0A0A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997592" y="2350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8984894" y="3108960"/>
            <a:ext cx="2537460" cy="2926080"/>
          </a:xfrm>
          <a:prstGeom prst="roundRect">
            <a:avLst>
              <a:gd name="adj" fmla="val 3604"/>
            </a:avLst>
          </a:prstGeom>
          <a:solidFill>
            <a:srgbClr val="16161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86062" y="3337560"/>
            <a:ext cx="420624" cy="420624"/>
          </a:xfrm>
          <a:prstGeom prst="ellipse">
            <a:avLst/>
          </a:prstGeom>
          <a:solidFill>
            <a:srgbClr val="FF3A8C"/>
          </a:solidFill>
          <a:ln/>
        </p:spPr>
      </p:sp>
      <p:pic>
        <p:nvPicPr>
          <p:cNvPr id="34" name="Image 3" descr="icon_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0" y="3447288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186062" y="3858768"/>
            <a:ext cx="2135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Q2-Q3 2027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9186062" y="4114800"/>
            <a:ext cx="21351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regional</a:t>
            </a:r>
            <a:endParaRPr lang="en-US" sz="1450" dirty="0"/>
          </a:p>
        </p:txBody>
      </p:sp>
      <p:sp>
        <p:nvSpPr>
          <p:cNvPr id="37" name="Text 31"/>
          <p:cNvSpPr/>
          <p:nvPr/>
        </p:nvSpPr>
        <p:spPr>
          <a:xfrm>
            <a:off x="9186062" y="4617720"/>
            <a:ext cx="21351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Ampliação de cobertura no Recôncavo Baiano e integração com outros equipamentos culturais do estado.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FF3A8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7B61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oportunidade de investimento</a:t>
            </a:r>
            <a:endParaRPr lang="en-US" sz="28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parceria estratégica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Buscamos aporte e/ou parceria para acelerar o desenvolvimento da plataforma, ampliar a cobertura de dados do setor cultural baiano e consolidar a camada de inteligência de dados do setor.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DO INVESTIMENTO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73989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da equipe técnica e de curadoria editorial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1422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da infraestrutura de agregação e dados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45152"/>
            <a:ext cx="128016" cy="128016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54456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do painel de inteligência de dados do setor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47488"/>
            <a:ext cx="128016" cy="128016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94690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de lançamento e aquisição de público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0" y="914400"/>
            <a:ext cx="3794760" cy="5120640"/>
          </a:xfrm>
          <a:prstGeom prst="roundRect">
            <a:avLst>
              <a:gd name="adj" fmla="val 2892"/>
            </a:avLst>
          </a:prstGeom>
          <a:solidFill>
            <a:srgbClr val="161616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ESTIMADO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2440" y="1508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 com base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escopo da parceria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92440" y="2423160"/>
            <a:ext cx="32004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EM AVALIAÇÃO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92440" y="301752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301752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direto (equity / conversível)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92440" y="370332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370332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 comercial e patrocínio de mídia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92440" y="438912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38912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Editais e fomento ao setor cultural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51663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FF3A8C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5166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2743200"/>
            <a:ext cx="7315200" cy="7315200"/>
          </a:xfrm>
          <a:prstGeom prst="ellipse">
            <a:avLst/>
          </a:prstGeom>
          <a:solidFill>
            <a:srgbClr val="7B61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18288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7B61FF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Cultural Salvador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33375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— vamos construir juntos a próxima etapa da cultura de Salvador.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4114800"/>
            <a:ext cx="395935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agendaculturalsalvador.com.br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Itan - Fundador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2026-08-12T17:57:30Z</dcterms:created>
  <dcterms:modified xsi:type="dcterms:W3CDTF">2026-08-12T17:57:30Z</dcterms:modified>
</cp:coreProperties>
</file>